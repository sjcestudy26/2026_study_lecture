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61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60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60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61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  <p:sldId id="309" r:id="rId59"/>
    <p:sldId id="310" r:id="rId60"/>
    <p:sldId id="311" r:id="rId61"/>
    <p:sldId id="312" r:id="rId62"/>
    <p:sldId id="313" r:id="rId63"/>
    <p:sldId id="314" r:id="rId64"/>
    <p:sldId id="315" r:id="rId65"/>
    <p:sldId id="316" r:id="rId66"/>
  </p:sldIdLst>
  <p:sldSz cy="5143500" cx="9144000"/>
  <p:notesSz cx="6858000" cy="9144000"/>
  <p:embeddedFontLst>
    <p:embeddedFont>
      <p:font typeface="Proxima Nova"/>
      <p:regular r:id="rId67"/>
      <p:bold r:id="rId68"/>
      <p:italic r:id="rId69"/>
      <p:boldItalic r:id="rId7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9" Type="http://schemas.openxmlformats.org/officeDocument/2006/relationships/slide" Target="slides/slide4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70" Type="http://schemas.openxmlformats.org/officeDocument/2006/relationships/font" Target="fonts/ProximaNova-boldItalic.fntdata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62" Type="http://schemas.openxmlformats.org/officeDocument/2006/relationships/slide" Target="slides/slide57.xml"/><Relationship Id="rId61" Type="http://schemas.openxmlformats.org/officeDocument/2006/relationships/slide" Target="slides/slide56.xml"/><Relationship Id="rId20" Type="http://schemas.openxmlformats.org/officeDocument/2006/relationships/slide" Target="slides/slide15.xml"/><Relationship Id="rId64" Type="http://schemas.openxmlformats.org/officeDocument/2006/relationships/slide" Target="slides/slide59.xml"/><Relationship Id="rId63" Type="http://schemas.openxmlformats.org/officeDocument/2006/relationships/slide" Target="slides/slide58.xml"/><Relationship Id="rId22" Type="http://schemas.openxmlformats.org/officeDocument/2006/relationships/slide" Target="slides/slide17.xml"/><Relationship Id="rId66" Type="http://schemas.openxmlformats.org/officeDocument/2006/relationships/slide" Target="slides/slide61.xml"/><Relationship Id="rId21" Type="http://schemas.openxmlformats.org/officeDocument/2006/relationships/slide" Target="slides/slide16.xml"/><Relationship Id="rId65" Type="http://schemas.openxmlformats.org/officeDocument/2006/relationships/slide" Target="slides/slide60.xml"/><Relationship Id="rId24" Type="http://schemas.openxmlformats.org/officeDocument/2006/relationships/slide" Target="slides/slide19.xml"/><Relationship Id="rId68" Type="http://schemas.openxmlformats.org/officeDocument/2006/relationships/font" Target="fonts/ProximaNova-bold.fntdata"/><Relationship Id="rId23" Type="http://schemas.openxmlformats.org/officeDocument/2006/relationships/slide" Target="slides/slide18.xml"/><Relationship Id="rId67" Type="http://schemas.openxmlformats.org/officeDocument/2006/relationships/font" Target="fonts/ProximaNova-regular.fntdata"/><Relationship Id="rId60" Type="http://schemas.openxmlformats.org/officeDocument/2006/relationships/slide" Target="slides/slide55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69" Type="http://schemas.openxmlformats.org/officeDocument/2006/relationships/font" Target="fonts/ProximaNova-italic.fntdata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slide" Target="slides/slide46.xml"/><Relationship Id="rId50" Type="http://schemas.openxmlformats.org/officeDocument/2006/relationships/slide" Target="slides/slide45.xml"/><Relationship Id="rId53" Type="http://schemas.openxmlformats.org/officeDocument/2006/relationships/slide" Target="slides/slide48.xml"/><Relationship Id="rId52" Type="http://schemas.openxmlformats.org/officeDocument/2006/relationships/slide" Target="slides/slide47.xml"/><Relationship Id="rId11" Type="http://schemas.openxmlformats.org/officeDocument/2006/relationships/slide" Target="slides/slide6.xml"/><Relationship Id="rId55" Type="http://schemas.openxmlformats.org/officeDocument/2006/relationships/slide" Target="slides/slide50.xml"/><Relationship Id="rId10" Type="http://schemas.openxmlformats.org/officeDocument/2006/relationships/slide" Target="slides/slide5.xml"/><Relationship Id="rId54" Type="http://schemas.openxmlformats.org/officeDocument/2006/relationships/slide" Target="slides/slide49.xml"/><Relationship Id="rId13" Type="http://schemas.openxmlformats.org/officeDocument/2006/relationships/slide" Target="slides/slide8.xml"/><Relationship Id="rId57" Type="http://schemas.openxmlformats.org/officeDocument/2006/relationships/slide" Target="slides/slide52.xml"/><Relationship Id="rId12" Type="http://schemas.openxmlformats.org/officeDocument/2006/relationships/slide" Target="slides/slide7.xml"/><Relationship Id="rId56" Type="http://schemas.openxmlformats.org/officeDocument/2006/relationships/slide" Target="slides/slide51.xml"/><Relationship Id="rId15" Type="http://schemas.openxmlformats.org/officeDocument/2006/relationships/slide" Target="slides/slide10.xml"/><Relationship Id="rId59" Type="http://schemas.openxmlformats.org/officeDocument/2006/relationships/slide" Target="slides/slide54.xml"/><Relationship Id="rId14" Type="http://schemas.openxmlformats.org/officeDocument/2006/relationships/slide" Target="slides/slide9.xml"/><Relationship Id="rId58" Type="http://schemas.openxmlformats.org/officeDocument/2006/relationships/slide" Target="slides/slide53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f7ebbf0658_0_1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3f7ebbf0658_0_1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f481ee5fca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3f481ee5fca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f6dec056c4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3f6dec056c4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f7069a5666_0_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3f7069a5666_0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f6c754ff3a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3f6c754ff3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f6c754ff3a_0_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3f6c754ff3a_0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f6c754ff3a_0_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f6c754ff3a_0_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f6c754ff3a_0_1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f6c754ff3a_0_1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f7069a5666_0_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f7069a5666_0_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f7069a5666_0_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f7069a5666_0_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f7069a5666_0_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3f7069a5666_0_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f6dec056c4_0_1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3f6dec056c4_0_1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f70d005b90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3f70d005b90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f70d005b90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f70d005b90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f6c754ff3a_0_2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3f6c754ff3a_0_2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f6c754ff3a_0_2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3f6c754ff3a_0_2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f6dc007d3b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3f6dc007d3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f6f7220ec9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3f6f7220ec9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f7069a5666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3f7069a5666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f70d005b90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" name="Google Shape;175;g3f70d005b90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f70d005b90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" name="Google Shape;182;g3f70d005b90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3f70d005b90_0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" name="Google Shape;188;g3f70d005b90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3f7069a5666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4" name="Google Shape;194;g3f7069a5666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3f7069a5666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0" name="Google Shape;200;g3f7069a5666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3f7069a5666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6" name="Google Shape;206;g3f7069a5666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3f7069a5666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3" name="Google Shape;213;g3f7069a5666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3f6dec056c4_0_1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0" name="Google Shape;220;g3f6dec056c4_0_1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f7069a5666_0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6" name="Google Shape;226;g3f7069a5666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f6dec056c4_0_1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4" name="Google Shape;234;g3f6dec056c4_0_1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g3f6dec056c4_0_1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2" name="Google Shape;242;g3f6dec056c4_0_1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g3f6dec056c4_0_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8" name="Google Shape;248;g3f6dec056c4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g3f70d005b90_0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4" name="Google Shape;254;g3f70d005b90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g3f70d005b90_0_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0" name="Google Shape;260;g3f70d005b90_0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g3f70d005b90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7" name="Google Shape;267;g3f70d005b90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g3f70d005b90_0_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3" name="Google Shape;273;g3f70d005b90_0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3f481ee5fca_1_1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9" name="Google Shape;279;g3f481ee5fca_1_1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g3f6b080a19f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5" name="Google Shape;285;g3f6b080a19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g3f6b0f36ce0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1" name="Google Shape;291;g3f6b0f36ce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g3f6b0f36ce0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7" name="Google Shape;297;g3f6b0f36ce0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g3f6b0f36ce0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3" name="Google Shape;303;g3f6b0f36ce0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g3f6b0f36ce0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9" name="Google Shape;309;g3f6b0f36ce0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g3f6b0f36ce0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5" name="Google Shape;315;g3f6b0f36ce0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g3f70d005b90_0_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1" name="Google Shape;321;g3f70d005b90_0_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g3f70d005b90_0_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7" name="Google Shape;327;g3f70d005b90_0_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g3f70d005b90_0_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3" name="Google Shape;333;g3f70d005b90_0_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g3f70d005b90_0_1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0" name="Google Shape;340;g3f70d005b90_0_1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g3f70d005b90_0_1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7" name="Google Shape;347;g3f70d005b90_0_1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g3f70d005b90_0_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3" name="Google Shape;353;g3f70d005b90_0_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g3f70d005b90_0_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9" name="Google Shape;359;g3f70d005b90_0_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g3f70d005b90_0_1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5" name="Google Shape;365;g3f70d005b90_0_1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g3f70d005b90_0_1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1" name="Google Shape;371;g3f70d005b90_0_1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g3f70d005b90_0_1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7" name="Google Shape;377;g3f70d005b90_0_1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g3f70d005b90_0_1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3" name="Google Shape;383;g3f70d005b90_0_1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g3f70d005b90_0_1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9" name="Google Shape;389;g3f70d005b90_0_1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g3f70d005b90_0_1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5" name="Google Shape;395;g3f70d005b90_0_1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g3f70d005b90_0_1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2" name="Google Shape;402;g3f70d005b90_0_1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g3f70d005b90_0_1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8" name="Google Shape;408;g3f70d005b90_0_1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g3f70d005b90_0_1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4" name="Google Shape;414;g3f70d005b90_0_1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g3f70d005b90_0_1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0" name="Google Shape;420;g3f70d005b90_0_1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g3f71f0c5ca0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6" name="Google Shape;426;g3f71f0c5ca0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0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g3f70d005b90_0_1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2" name="Google Shape;432;g3f70d005b90_0_1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oogle Shape;10;p2"/>
          <p:cNvCxnSpPr/>
          <p:nvPr/>
        </p:nvCxnSpPr>
        <p:spPr>
          <a:xfrm>
            <a:off x="0" y="2998150"/>
            <a:ext cx="91440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" name="Google Shape;11;p2"/>
          <p:cNvSpPr txBox="1"/>
          <p:nvPr>
            <p:ph type="ctrTitle"/>
          </p:nvPr>
        </p:nvSpPr>
        <p:spPr>
          <a:xfrm>
            <a:off x="510450" y="1257300"/>
            <a:ext cx="8123100" cy="1588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510450" y="3182313"/>
            <a:ext cx="8123100" cy="63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Google Shape;15;p3"/>
          <p:cNvCxnSpPr/>
          <p:nvPr/>
        </p:nvCxnSpPr>
        <p:spPr>
          <a:xfrm>
            <a:off x="0" y="2998150"/>
            <a:ext cx="91440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" name="Google Shape;16;p3"/>
          <p:cNvSpPr txBox="1"/>
          <p:nvPr>
            <p:ph type="title"/>
          </p:nvPr>
        </p:nvSpPr>
        <p:spPr>
          <a:xfrm>
            <a:off x="510450" y="2057400"/>
            <a:ext cx="8123100" cy="77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7" name="Google Shape;17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1" name="Google Shape;21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5" name="Google Shape;25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6" name="Google Shape;26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7" name="Google Shape;27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0" name="Google Shape;30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4" name="Google Shape;34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lt2"/>
        </a:solidFill>
      </p:bgPr>
    </p:bg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"/>
          <p:cNvSpPr txBox="1"/>
          <p:nvPr>
            <p:ph type="title"/>
          </p:nvPr>
        </p:nvSpPr>
        <p:spPr>
          <a:xfrm>
            <a:off x="490250" y="526350"/>
            <a:ext cx="57975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7" name="Google Shape;37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/>
        </p:nvSpPr>
        <p:spPr>
          <a:xfrm>
            <a:off x="4572000" y="7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0" name="Google Shape;40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1" name="Google Shape;41;p9"/>
          <p:cNvSpPr txBox="1"/>
          <p:nvPr>
            <p:ph type="title"/>
          </p:nvPr>
        </p:nvSpPr>
        <p:spPr>
          <a:xfrm>
            <a:off x="265500" y="1205825"/>
            <a:ext cx="4045200" cy="1509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2" name="Google Shape;42;p9"/>
          <p:cNvSpPr txBox="1"/>
          <p:nvPr>
            <p:ph idx="1" type="subTitle"/>
          </p:nvPr>
        </p:nvSpPr>
        <p:spPr>
          <a:xfrm>
            <a:off x="265500" y="27690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3" name="Google Shape;43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4" name="Google Shape;44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0"/>
          <p:cNvSpPr txBox="1"/>
          <p:nvPr>
            <p:ph idx="1" type="body"/>
          </p:nvPr>
        </p:nvSpPr>
        <p:spPr>
          <a:xfrm>
            <a:off x="311700" y="42368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</a:lstStyle>
          <a:p/>
        </p:txBody>
      </p:sp>
      <p:sp>
        <p:nvSpPr>
          <p:cNvPr id="47" name="Google Shape;47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1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11"/>
          <p:cNvSpPr txBox="1"/>
          <p:nvPr>
            <p:ph hasCustomPrompt="1" type="title"/>
          </p:nvPr>
        </p:nvSpPr>
        <p:spPr>
          <a:xfrm>
            <a:off x="311700" y="991475"/>
            <a:ext cx="8520600" cy="1917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9pPr>
          </a:lstStyle>
          <a:p>
            <a:r>
              <a:t>xx%</a:t>
            </a:r>
          </a:p>
        </p:txBody>
      </p:sp>
      <p:sp>
        <p:nvSpPr>
          <p:cNvPr id="51" name="Google Shape;51;p11"/>
          <p:cNvSpPr txBox="1"/>
          <p:nvPr>
            <p:ph idx="1" type="body"/>
          </p:nvPr>
        </p:nvSpPr>
        <p:spPr>
          <a:xfrm>
            <a:off x="311700" y="3071300"/>
            <a:ext cx="8520600" cy="90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2" name="Google Shape;52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pearmint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Proxima Nova"/>
              <a:buChar char="●"/>
              <a:defRPr sz="1800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○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■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●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○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■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●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○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■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Relationship Id="rId4" Type="http://schemas.openxmlformats.org/officeDocument/2006/relationships/image" Target="../media/image16.png"/><Relationship Id="rId5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0.png"/><Relationship Id="rId4" Type="http://schemas.openxmlformats.org/officeDocument/2006/relationships/image" Target="../media/image1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3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7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9.png"/><Relationship Id="rId4" Type="http://schemas.openxmlformats.org/officeDocument/2006/relationships/image" Target="../media/image20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3.png"/><Relationship Id="rId4" Type="http://schemas.openxmlformats.org/officeDocument/2006/relationships/image" Target="../media/image12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4.png"/><Relationship Id="rId4" Type="http://schemas.openxmlformats.org/officeDocument/2006/relationships/image" Target="../media/image5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2.png"/><Relationship Id="rId4" Type="http://schemas.openxmlformats.org/officeDocument/2006/relationships/image" Target="../media/image15.png"/><Relationship Id="rId5" Type="http://schemas.openxmlformats.org/officeDocument/2006/relationships/image" Target="../media/image8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22.png"/><Relationship Id="rId4" Type="http://schemas.openxmlformats.org/officeDocument/2006/relationships/image" Target="../media/image18.png"/><Relationship Id="rId5" Type="http://schemas.openxmlformats.org/officeDocument/2006/relationships/image" Target="../media/image19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27.png"/><Relationship Id="rId4" Type="http://schemas.openxmlformats.org/officeDocument/2006/relationships/image" Target="../media/image29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24.pn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28.png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26.png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21.png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5.xml"/><Relationship Id="rId3" Type="http://schemas.openxmlformats.org/officeDocument/2006/relationships/image" Target="../media/image25.png"/><Relationship Id="rId4" Type="http://schemas.openxmlformats.org/officeDocument/2006/relationships/image" Target="../media/image23.png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0.xml"/><Relationship Id="rId3" Type="http://schemas.openxmlformats.org/officeDocument/2006/relationships/image" Target="../media/image30.png"/></Relationships>
</file>

<file path=ppt/slides/_rels/slide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3"/>
          <p:cNvSpPr txBox="1"/>
          <p:nvPr>
            <p:ph type="ctrTitle"/>
          </p:nvPr>
        </p:nvSpPr>
        <p:spPr>
          <a:xfrm>
            <a:off x="510450" y="1257300"/>
            <a:ext cx="8123100" cy="1588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실전 DevOps 입문</a:t>
            </a:r>
            <a:endParaRPr/>
          </a:p>
        </p:txBody>
      </p:sp>
      <p:sp>
        <p:nvSpPr>
          <p:cNvPr id="60" name="Google Shape;60;p13"/>
          <p:cNvSpPr txBox="1"/>
          <p:nvPr>
            <p:ph idx="1" type="subTitle"/>
          </p:nvPr>
        </p:nvSpPr>
        <p:spPr>
          <a:xfrm>
            <a:off x="510450" y="3182313"/>
            <a:ext cx="8123100" cy="63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#6 - 서비스 안정화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강의 목표</a:t>
            </a:r>
            <a:endParaRPr/>
          </a:p>
        </p:txBody>
      </p:sp>
      <p:sp>
        <p:nvSpPr>
          <p:cNvPr id="66" name="Google Shape;66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2600">
                <a:solidFill>
                  <a:schemeClr val="accent1"/>
                </a:solidFill>
              </a:rPr>
              <a:t>서비스 안정화</a:t>
            </a:r>
            <a:endParaRPr b="1" sz="2600">
              <a:solidFill>
                <a:schemeClr val="accent1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●"/>
            </a:pPr>
            <a:r>
              <a:rPr b="1" lang="ko"/>
              <a:t>Production 세팅</a:t>
            </a:r>
            <a:endParaRPr b="1"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ko"/>
              <a:t>환경변수 설정</a:t>
            </a:r>
            <a:endParaRPr b="1"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●"/>
            </a:pPr>
            <a:r>
              <a:rPr b="1" lang="ko"/>
              <a:t>LB 설정</a:t>
            </a:r>
            <a:endParaRPr b="1"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ko"/>
              <a:t>대상그룹</a:t>
            </a:r>
            <a:endParaRPr b="1"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ko"/>
              <a:t>로드밸런서</a:t>
            </a:r>
            <a:endParaRPr b="1"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ko"/>
              <a:t>pm2의 이해</a:t>
            </a:r>
            <a:endParaRPr b="1"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●"/>
            </a:pPr>
            <a:r>
              <a:rPr b="1" lang="ko"/>
              <a:t>순환패치</a:t>
            </a:r>
            <a:endParaRPr b="1"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●"/>
            </a:pPr>
            <a:r>
              <a:rPr b="1" lang="ko"/>
              <a:t>버전 관리와 롤백</a:t>
            </a:r>
            <a:endParaRPr b="1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5"/>
          <p:cNvSpPr txBox="1"/>
          <p:nvPr>
            <p:ph type="title"/>
          </p:nvPr>
        </p:nvSpPr>
        <p:spPr>
          <a:xfrm>
            <a:off x="311700" y="4549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최종 산출물</a:t>
            </a:r>
            <a:endParaRPr/>
          </a:p>
        </p:txBody>
      </p:sp>
      <p:pic>
        <p:nvPicPr>
          <p:cNvPr id="72" name="Google Shape;72;p15" title="ChatGPT Image 2026년 6월 14일 오후 10_48_38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86200" y="1027650"/>
            <a:ext cx="6771600" cy="3811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ko"/>
              <a:t>새로운 아이템 생성</a:t>
            </a:r>
            <a:endParaRPr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ko"/>
              <a:t>이름: Production</a:t>
            </a:r>
            <a:endParaRPr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ko"/>
              <a:t>타입: Freestyle project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ko"/>
              <a:t>테스트 빌드 실행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ko"/>
              <a:t>디렉토리 생성 확인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400"/>
          </a:p>
        </p:txBody>
      </p:sp>
      <p:sp>
        <p:nvSpPr>
          <p:cNvPr id="78" name="Google Shape;78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Production - Jenkins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Production - </a:t>
            </a:r>
            <a:r>
              <a:rPr lang="ko"/>
              <a:t>Jenkins</a:t>
            </a:r>
            <a:endParaRPr/>
          </a:p>
        </p:txBody>
      </p:sp>
      <p:pic>
        <p:nvPicPr>
          <p:cNvPr id="84" name="Google Shape;84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017725"/>
            <a:ext cx="1642435" cy="1554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018100" y="1017725"/>
            <a:ext cx="3395449" cy="3820977"/>
          </a:xfrm>
          <a:prstGeom prst="rect">
            <a:avLst/>
          </a:prstGeom>
          <a:noFill/>
          <a:ln>
            <a:noFill/>
          </a:ln>
        </p:spPr>
      </p:pic>
      <p:pic>
        <p:nvPicPr>
          <p:cNvPr id="86" name="Google Shape;86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513624" y="1017725"/>
            <a:ext cx="3425651" cy="32648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Production</a:t>
            </a:r>
            <a:r>
              <a:rPr lang="ko"/>
              <a:t> - </a:t>
            </a:r>
            <a:r>
              <a:rPr lang="ko"/>
              <a:t>Jenkins</a:t>
            </a:r>
            <a:endParaRPr/>
          </a:p>
        </p:txBody>
      </p:sp>
      <p:pic>
        <p:nvPicPr>
          <p:cNvPr id="92" name="Google Shape;92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017725"/>
            <a:ext cx="2207725" cy="2271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604525" y="1017725"/>
            <a:ext cx="6319775" cy="21040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Production - git</a:t>
            </a:r>
            <a:endParaRPr/>
          </a:p>
        </p:txBody>
      </p:sp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ko"/>
              <a:t>cd /var/lib/jenkins/workspace/Production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ko"/>
              <a:t>sudo mkdir deploy_project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ko"/>
              <a:t>cd deploy_project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ko"/>
              <a:t>sudo git init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ko"/>
              <a:t>sudo git remote add origin https://github.com/sjcestudy26/2026_study_lecture.git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ko"/>
              <a:t>sudo git pull origin main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Production - </a:t>
            </a:r>
            <a:r>
              <a:rPr lang="ko"/>
              <a:t>빌드 세팅</a:t>
            </a:r>
            <a:endParaRPr/>
          </a:p>
        </p:txBody>
      </p:sp>
      <p:sp>
        <p:nvSpPr>
          <p:cNvPr id="105" name="Google Shape;105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-334328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ko"/>
              <a:t>cd frontend</a:t>
            </a:r>
            <a:endParaRPr/>
          </a:p>
          <a:p>
            <a:pPr indent="-334328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ko"/>
              <a:t>sudo npm install</a:t>
            </a:r>
            <a:endParaRPr/>
          </a:p>
          <a:p>
            <a:pPr indent="-334328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ko"/>
              <a:t>cd ..</a:t>
            </a:r>
            <a:endParaRPr/>
          </a:p>
          <a:p>
            <a:pPr indent="-334328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ko"/>
              <a:t>cd backend</a:t>
            </a:r>
            <a:endParaRPr/>
          </a:p>
          <a:p>
            <a:pPr indent="-334328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ko"/>
              <a:t>sudo npm install</a:t>
            </a:r>
            <a:endParaRPr/>
          </a:p>
          <a:p>
            <a:pPr indent="-334328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ko"/>
              <a:t>sudo cp .env.example .env</a:t>
            </a:r>
            <a:endParaRPr/>
          </a:p>
          <a:p>
            <a:pPr indent="-334328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ko"/>
              <a:t>cd ..</a:t>
            </a:r>
            <a:endParaRPr/>
          </a:p>
          <a:p>
            <a:pPr indent="-334328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ko"/>
              <a:t>sudo npm install</a:t>
            </a:r>
            <a:endParaRPr/>
          </a:p>
          <a:p>
            <a:pPr indent="-334328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ko"/>
              <a:t>sudo </a:t>
            </a:r>
            <a:r>
              <a:rPr lang="ko"/>
              <a:t>npm run build:zip</a:t>
            </a:r>
            <a:endParaRPr/>
          </a:p>
          <a:p>
            <a:pPr indent="-310832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ko"/>
              <a:t>빌드 확인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Production - 빌드 세팅</a:t>
            </a:r>
            <a:endParaRPr/>
          </a:p>
        </p:txBody>
      </p:sp>
      <p:sp>
        <p:nvSpPr>
          <p:cNvPr id="111" name="Google Shape;111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-334328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ko"/>
              <a:t>cd /var/lib/jenkins/workspace</a:t>
            </a:r>
            <a:endParaRPr/>
          </a:p>
          <a:p>
            <a:pPr indent="-334328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ko"/>
              <a:t>sudo cp test_deploy/deploy.sh Production/</a:t>
            </a:r>
            <a:endParaRPr/>
          </a:p>
          <a:p>
            <a:pPr indent="-334328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ko"/>
              <a:t>cd </a:t>
            </a:r>
            <a:r>
              <a:rPr lang="ko"/>
              <a:t>Production</a:t>
            </a:r>
            <a:endParaRPr/>
          </a:p>
          <a:p>
            <a:pPr indent="-310832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ko"/>
              <a:t>복사 확인</a:t>
            </a:r>
            <a:endParaRPr/>
          </a:p>
          <a:p>
            <a:pPr indent="-334328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ko"/>
              <a:t>sudo vi deploy.sh</a:t>
            </a:r>
            <a:endParaRPr/>
          </a:p>
          <a:p>
            <a:pPr indent="-310832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ko"/>
              <a:t>PRJDIR 경로 수정</a:t>
            </a:r>
            <a:endParaRPr/>
          </a:p>
          <a:p>
            <a:pPr indent="-310832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ko"/>
              <a:t>git 설정 수정</a:t>
            </a:r>
            <a:endParaRPr/>
          </a:p>
          <a:p>
            <a:pPr indent="-310832" lvl="2" marL="1371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Char char="■"/>
            </a:pPr>
            <a:r>
              <a:rPr lang="ko"/>
              <a:t>user.name, user.email</a:t>
            </a:r>
            <a:endParaRPr/>
          </a:p>
          <a:p>
            <a:pPr indent="-310832" lvl="2" marL="1371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Char char="■"/>
            </a:pPr>
            <a:r>
              <a:rPr lang="ko"/>
              <a:t>origin/main, origin main</a:t>
            </a:r>
            <a:endParaRPr/>
          </a:p>
          <a:p>
            <a:pPr indent="-334328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ko"/>
              <a:t>sudo chmod +x deploy.sh</a:t>
            </a:r>
            <a:endParaRPr/>
          </a:p>
          <a:p>
            <a:pPr indent="-334328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ko"/>
              <a:t>sudo chown -R jenkins:jenkins deploy_project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Production - </a:t>
            </a:r>
            <a:r>
              <a:rPr lang="ko"/>
              <a:t>Jenkins</a:t>
            </a:r>
            <a:endParaRPr/>
          </a:p>
        </p:txBody>
      </p:sp>
      <p:sp>
        <p:nvSpPr>
          <p:cNvPr id="117" name="Google Shape;117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ko"/>
              <a:t>Build Steps</a:t>
            </a:r>
            <a:endParaRPr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ko"/>
              <a:t>Execute shell</a:t>
            </a:r>
            <a:endParaRPr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ko"/>
              <a:t>/var/lib/jenkins/workspace/Production/deploy.sh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ko"/>
              <a:t>빌드 실행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Production - 환경변수</a:t>
            </a:r>
            <a:endParaRPr/>
          </a:p>
        </p:txBody>
      </p:sp>
      <p:sp>
        <p:nvSpPr>
          <p:cNvPr id="123" name="Google Shape;123;p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ko"/>
              <a:t>sudo mkdir /var/lib/jenkins/.dpenv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ko"/>
              <a:t>sudo mv /var/lib/jenkins/workspace/test_deploy/deploy_project/frontend/.env.production /var/lib/jenkins/.dpenv/.env.frontend</a:t>
            </a:r>
            <a:endParaRPr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ko"/>
              <a:t>frontend 환경변수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ko"/>
              <a:t>sudo chmod 600 /var/lib/jenkins/.dpenv/.env.frontend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Production - 환경변수</a:t>
            </a:r>
            <a:endParaRPr/>
          </a:p>
        </p:txBody>
      </p:sp>
      <p:sp>
        <p:nvSpPr>
          <p:cNvPr id="129" name="Google Shape;129;p2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ko"/>
              <a:t>파일질라로 backend </a:t>
            </a:r>
            <a:r>
              <a:rPr lang="ko"/>
              <a:t>인스턴스의</a:t>
            </a:r>
            <a:r>
              <a:rPr lang="ko"/>
              <a:t> .env 파일 전송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ko"/>
              <a:t>sudo mv /home/ubuntu/.env /var/lib/jenkins/.dpenv/.env.backend</a:t>
            </a:r>
            <a:endParaRPr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ko"/>
              <a:t>backend 환경변수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ko"/>
              <a:t>sudo chmod 600 /var/lib/jenkins/.dpenv/.env.backend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ko"/>
              <a:t>sudo chown -R jenkins:jenkins /var/lib/jenkins/.dpenv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Production - 환경변수</a:t>
            </a:r>
            <a:endParaRPr/>
          </a:p>
        </p:txBody>
      </p:sp>
      <p:sp>
        <p:nvSpPr>
          <p:cNvPr id="135" name="Google Shape;135;p2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ko"/>
              <a:t>cd /var/lib/jenkins/workspace/Production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ko"/>
              <a:t>sudo vi deploy.sh</a:t>
            </a:r>
            <a:endParaRPr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ko"/>
              <a:t>cp </a:t>
            </a:r>
            <a:r>
              <a:rPr lang="ko"/>
              <a:t>/var/lib/jenkins/.dpenv/.env.frontend</a:t>
            </a:r>
            <a:r>
              <a:rPr lang="ko"/>
              <a:t> /var/lib/jenkins/workspace/Production/deploy_project/frontend/.env.production</a:t>
            </a:r>
            <a:endParaRPr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ko"/>
              <a:t>cp /var/lib/jenkins/.dpenv/.env.backend /var/lib/jenkins/workspace/Production/deploy_project/backend/.env</a:t>
            </a:r>
            <a:endParaRPr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ko"/>
              <a:t>chmod +r /var/lib/jenkins/workspace/Production/deploy_project/frontend/.env.production</a:t>
            </a:r>
            <a:endParaRPr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ko"/>
              <a:t>chmod +r /var/lib/jenkins/workspace/Production/deploy_project/backend/.env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Production - 환경변수</a:t>
            </a:r>
            <a:endParaRPr/>
          </a:p>
        </p:txBody>
      </p:sp>
      <p:pic>
        <p:nvPicPr>
          <p:cNvPr id="141" name="Google Shape;141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017725"/>
            <a:ext cx="8330574" cy="2725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LB 설정 </a:t>
            </a:r>
            <a:r>
              <a:rPr lang="ko"/>
              <a:t>- </a:t>
            </a:r>
            <a:r>
              <a:rPr lang="ko"/>
              <a:t>대상그룹</a:t>
            </a:r>
            <a:endParaRPr/>
          </a:p>
        </p:txBody>
      </p:sp>
      <p:sp>
        <p:nvSpPr>
          <p:cNvPr id="147" name="Google Shape;147;p2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ko"/>
              <a:t>TG-Frontend</a:t>
            </a:r>
            <a:endParaRPr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ko"/>
              <a:t>대상 유형: 인스턴스</a:t>
            </a:r>
            <a:endParaRPr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ko"/>
              <a:t>프로토콜: HTTP</a:t>
            </a:r>
            <a:endParaRPr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ko"/>
              <a:t>포트: 5173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ko"/>
              <a:t>TG-Backend</a:t>
            </a:r>
            <a:endParaRPr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ko"/>
              <a:t>대상 유형: 인스턴스</a:t>
            </a:r>
            <a:endParaRPr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ko"/>
              <a:t>프로토콜: HTTP</a:t>
            </a:r>
            <a:endParaRPr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ko"/>
              <a:t>포트: 3000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LB </a:t>
            </a:r>
            <a:r>
              <a:rPr lang="ko"/>
              <a:t>설정</a:t>
            </a:r>
            <a:r>
              <a:rPr lang="ko"/>
              <a:t> - 로드밸런서</a:t>
            </a:r>
            <a:endParaRPr/>
          </a:p>
        </p:txBody>
      </p:sp>
      <p:sp>
        <p:nvSpPr>
          <p:cNvPr id="153" name="Google Shape;153;p2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ko"/>
              <a:t>LB-</a:t>
            </a:r>
            <a:r>
              <a:rPr lang="ko"/>
              <a:t>Frontend</a:t>
            </a:r>
            <a:endParaRPr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ko"/>
              <a:t>ALB</a:t>
            </a:r>
            <a:endParaRPr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ko"/>
              <a:t>가용 영역 및 서브넷: 전체</a:t>
            </a:r>
            <a:endParaRPr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ko"/>
              <a:t>보안 그룹 생성</a:t>
            </a:r>
            <a:endParaRPr/>
          </a:p>
          <a:p>
            <a:pPr indent="-317500" lvl="2" marL="1371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ko"/>
              <a:t>이름: </a:t>
            </a:r>
            <a:r>
              <a:rPr lang="ko"/>
              <a:t>SG-Production</a:t>
            </a:r>
            <a:endParaRPr/>
          </a:p>
          <a:p>
            <a:pPr indent="-317500" lvl="2" marL="1371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ko"/>
              <a:t>보안 그룹 생성 - HTTP 허용</a:t>
            </a:r>
            <a:endParaRPr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ko"/>
              <a:t>대상 그룹: TG-Frontend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ko"/>
              <a:t>backend_devops 인스턴스 보안 그룹 수정 - 인바운드</a:t>
            </a:r>
            <a:endParaRPr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ko"/>
              <a:t>5173 0.0.0.0/0 -&gt; 5173 SG-</a:t>
            </a:r>
            <a:r>
              <a:rPr lang="ko"/>
              <a:t>Production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LB 설정 </a:t>
            </a:r>
            <a:r>
              <a:rPr lang="ko"/>
              <a:t>- 로드밸런서</a:t>
            </a:r>
            <a:endParaRPr/>
          </a:p>
        </p:txBody>
      </p:sp>
      <p:sp>
        <p:nvSpPr>
          <p:cNvPr id="159" name="Google Shape;159;p2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ko"/>
              <a:t>LB-Backend</a:t>
            </a:r>
            <a:endParaRPr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ko"/>
              <a:t>ALB</a:t>
            </a:r>
            <a:endParaRPr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ko"/>
              <a:t>가용 영역 및 서브넷: 전체</a:t>
            </a:r>
            <a:endParaRPr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ko"/>
              <a:t>기존 </a:t>
            </a:r>
            <a:r>
              <a:rPr lang="ko"/>
              <a:t>보안 그룹: SG-Production</a:t>
            </a:r>
            <a:endParaRPr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ko"/>
              <a:t>대상 그룹: TG-Backend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ko"/>
              <a:t>backend_devops 인스턴스 보안 그룹 수정 - 인바운드</a:t>
            </a:r>
            <a:endParaRPr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ko"/>
              <a:t>3000 0.0.0.0/0 -&gt; 3000 SG-</a:t>
            </a:r>
            <a:r>
              <a:rPr lang="ko"/>
              <a:t>Production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LB 설정 </a:t>
            </a:r>
            <a:r>
              <a:rPr lang="ko"/>
              <a:t>- 로드밸런서</a:t>
            </a:r>
            <a:endParaRPr/>
          </a:p>
        </p:txBody>
      </p:sp>
      <p:sp>
        <p:nvSpPr>
          <p:cNvPr id="165" name="Google Shape;165;p3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ko"/>
              <a:t>DNS</a:t>
            </a:r>
            <a:r>
              <a:rPr lang="ko"/>
              <a:t>로 접속 확인</a:t>
            </a:r>
            <a:endParaRPr/>
          </a:p>
        </p:txBody>
      </p:sp>
      <p:pic>
        <p:nvPicPr>
          <p:cNvPr id="166" name="Google Shape;166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651075"/>
            <a:ext cx="7470825" cy="33001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3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ko"/>
              <a:t>cd /var/lib/jenkins/.dpenv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ko"/>
              <a:t>sudo vi .env.frontend</a:t>
            </a:r>
            <a:endParaRPr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ko"/>
              <a:t>VITE_API_URL 주소를 LB-Backend DNS로 변경</a:t>
            </a:r>
            <a:endParaRPr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ko"/>
              <a:t>단, 대소문자는 구분이 있어서 대문자는 소문자로 변경</a:t>
            </a:r>
            <a:endParaRPr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ko"/>
              <a:t>ex) VITE_API_URL=http://lb-backend-277043075.ap-northeast-2.elb.amazonaws.com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ko"/>
              <a:t>sudo vi .env.backend</a:t>
            </a:r>
            <a:endParaRPr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ko"/>
              <a:t>CORS_ORIGINS</a:t>
            </a:r>
            <a:r>
              <a:rPr lang="ko"/>
              <a:t> 주소를 LB-Frontend DNS로 변경</a:t>
            </a:r>
            <a:endParaRPr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ko"/>
              <a:t>단, 대소문자는 구분이 있어서 대문자는 소문자로 변경</a:t>
            </a:r>
            <a:endParaRPr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ko"/>
              <a:t>ex) CORS_ORIGINS=http://lb-frontend-45208654.ap-northeast-2.elb.amazonaws.com,http://localhost:5173</a:t>
            </a:r>
            <a:endParaRPr/>
          </a:p>
        </p:txBody>
      </p:sp>
      <p:sp>
        <p:nvSpPr>
          <p:cNvPr id="172" name="Google Shape;172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LB 설정 - 환경변수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LB 설정 - 대상그룹 등록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78" name="Google Shape;178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017725"/>
            <a:ext cx="5003751" cy="1874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9" name="Google Shape;179;p3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1700" y="2993550"/>
            <a:ext cx="5076226" cy="2029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3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LB 설정 - 대상그룹 </a:t>
            </a:r>
            <a:r>
              <a:rPr lang="ko"/>
              <a:t>해제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85" name="Google Shape;185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017725"/>
            <a:ext cx="8248773" cy="30567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3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ko"/>
              <a:t>Amazon Web Services Command Line Interface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ko"/>
              <a:t>터미널에서 명령어로 AWS 서비스를 제어하고 관리할 수 있게 해주는 도구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ko"/>
              <a:t>AWS 콘솔에서 설정하는 번거로움 없이, 빠르고 효율적으로 AWS 인프라를 조작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ko"/>
              <a:t>AWS에서 제공하는 거의 모든 서비스의 API를 명령어 형태로 지원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ko"/>
              <a:t>반복적인 작업을 자동화</a:t>
            </a:r>
            <a:endParaRPr sz="1400"/>
          </a:p>
        </p:txBody>
      </p:sp>
      <p:sp>
        <p:nvSpPr>
          <p:cNvPr id="191" name="Google Shape;191;p3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AWS CLI란?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3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ko"/>
              <a:t>aws cli 설치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ko"/>
              <a:t>sudo curl "https://awscli.amazonaws.com/awscli-exe-linux-x86_64.zip" -o "awscliv2.zip"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ko"/>
              <a:t>sudo unzip awscliv2.zip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ko"/>
              <a:t>sudo ./aws/install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ko"/>
              <a:t>aws --version</a:t>
            </a:r>
            <a:endParaRPr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ko"/>
              <a:t>설치 확인</a:t>
            </a:r>
            <a:endParaRPr sz="1400"/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400"/>
          </a:p>
        </p:txBody>
      </p:sp>
      <p:sp>
        <p:nvSpPr>
          <p:cNvPr id="197" name="Google Shape;197;p3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AWS CLI</a:t>
            </a:r>
            <a:r>
              <a:rPr lang="ko"/>
              <a:t> 설치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3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ko"/>
              <a:t>역할 이름: ELB_TG_Register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ko"/>
              <a:t>aws iam 설정</a:t>
            </a:r>
            <a:endParaRPr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ko"/>
              <a:t>elasticloadbalancing:DescribeTargetGroups</a:t>
            </a:r>
            <a:endParaRPr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ko"/>
              <a:t>elasticloadbalancing:RegisterTargets</a:t>
            </a:r>
            <a:endParaRPr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ko"/>
              <a:t>elasticloadbalancing:DeregisterTargets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ko"/>
              <a:t>aws sts get-caller-identity</a:t>
            </a:r>
            <a:endParaRPr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ko"/>
              <a:t>역할 확인</a:t>
            </a:r>
            <a:endParaRPr sz="1400"/>
          </a:p>
        </p:txBody>
      </p:sp>
      <p:sp>
        <p:nvSpPr>
          <p:cNvPr id="203" name="Google Shape;203;p3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AWS CLI 설정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3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AWS CLI 설</a:t>
            </a:r>
            <a:r>
              <a:rPr lang="ko"/>
              <a:t>정</a:t>
            </a:r>
            <a:endParaRPr/>
          </a:p>
        </p:txBody>
      </p:sp>
      <p:pic>
        <p:nvPicPr>
          <p:cNvPr id="209" name="Google Shape;209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017725"/>
            <a:ext cx="7648721" cy="1554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0" name="Google Shape;210;p3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1700" y="2711825"/>
            <a:ext cx="8338050" cy="1758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3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AWS CLI 설정</a:t>
            </a:r>
            <a:endParaRPr/>
          </a:p>
        </p:txBody>
      </p:sp>
      <p:pic>
        <p:nvPicPr>
          <p:cNvPr id="216" name="Google Shape;216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017725"/>
            <a:ext cx="4936475" cy="2178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7" name="Google Shape;217;p3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1700" y="3401075"/>
            <a:ext cx="5847388" cy="16423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3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25000" lnSpcReduction="20000"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{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  "Version": "2012-10-17",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  "Statement": [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    {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      "Effect": "Allow",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      "Action": [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        "elasticloadbalancing:DescribeTargetGroups",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        "elasticloadbalancing:RegisterTargets",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        "elasticloadbalancing:DeregisterTargets"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      ],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      "Resource": "*"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    }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  ]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}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3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AWS CLI 설정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4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AWS CLI 설정</a:t>
            </a:r>
            <a:endParaRPr/>
          </a:p>
        </p:txBody>
      </p:sp>
      <p:pic>
        <p:nvPicPr>
          <p:cNvPr id="229" name="Google Shape;229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017725"/>
            <a:ext cx="5953201" cy="1738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0" name="Google Shape;230;p4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1700" y="2908525"/>
            <a:ext cx="3261277" cy="20825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31" name="Google Shape;231;p4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121602" y="2908525"/>
            <a:ext cx="4668629" cy="2082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4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AWS CLI 설정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37" name="Google Shape;237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017725"/>
            <a:ext cx="7217812" cy="162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8" name="Google Shape;238;p4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1700" y="2638225"/>
            <a:ext cx="7149374" cy="1388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9" name="Google Shape;239;p4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11700" y="4026450"/>
            <a:ext cx="7073136" cy="812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4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ko"/>
              <a:t>새로운 아이템 생성</a:t>
            </a:r>
            <a:endParaRPr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ko"/>
              <a:t>이름: AWS_LB_FRONTEND</a:t>
            </a:r>
            <a:endParaRPr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ko"/>
              <a:t>타입: Freestyle project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ko"/>
              <a:t>테스트 빌드 실행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ko"/>
              <a:t>디렉토리 생성 확인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400"/>
          </a:p>
        </p:txBody>
      </p:sp>
      <p:sp>
        <p:nvSpPr>
          <p:cNvPr id="245" name="Google Shape;245;p4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LB 설정 - Jenkins</a:t>
            </a: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4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LB 설정 - Jenkins</a:t>
            </a:r>
            <a:endParaRPr/>
          </a:p>
        </p:txBody>
      </p:sp>
      <p:sp>
        <p:nvSpPr>
          <p:cNvPr id="251" name="Google Shape;251;p4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ko"/>
              <a:t>cd </a:t>
            </a:r>
            <a:r>
              <a:rPr lang="ko"/>
              <a:t>/var/lib/jenkins/workspace/AWS_LB_FRONTEND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ko"/>
              <a:t>sudo vi lb.sh</a:t>
            </a:r>
            <a:endParaRPr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ko"/>
              <a:t>다음장 스크립트 참고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ko"/>
              <a:t>sudo chmod +x </a:t>
            </a:r>
            <a:r>
              <a:rPr lang="ko"/>
              <a:t>lb</a:t>
            </a:r>
            <a:r>
              <a:rPr lang="ko"/>
              <a:t>.sh</a:t>
            </a: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4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LB 설정 - Jenkins</a:t>
            </a:r>
            <a:endParaRPr/>
          </a:p>
        </p:txBody>
      </p:sp>
      <p:sp>
        <p:nvSpPr>
          <p:cNvPr id="257" name="Google Shape;257;p4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25000" lnSpcReduction="20000"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# 대상그룹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REGION="ap-northeast-2"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TARGET_GROUP_ARN={target_group_arn}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ID={instance_id}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if [ "$ACTION" = "REGISTER" ]; then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    echo "Registering target..."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    aws elbv2 register-targets \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        --region "$REGION" \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        --target-group-arn "$TARGET_GROUP_ARN" \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        --targets Id="$ID"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    echo "Target registered."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elif [ "$ACTION" = "DEREGISTER" ]; then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    echo "Deregistering target..."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    aws elbv2 deregister-targets \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        --region "$REGION" \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        --target-group-arn "$TARGET_GROUP_ARN" \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        --targets Id="$ID"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    echo "Target deregistered."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fi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4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LB 설정 - Jenkins</a:t>
            </a:r>
            <a:endParaRPr/>
          </a:p>
        </p:txBody>
      </p:sp>
      <p:pic>
        <p:nvPicPr>
          <p:cNvPr id="263" name="Google Shape;263;p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017725"/>
            <a:ext cx="4094269" cy="3820974"/>
          </a:xfrm>
          <a:prstGeom prst="rect">
            <a:avLst/>
          </a:prstGeom>
          <a:noFill/>
          <a:ln>
            <a:noFill/>
          </a:ln>
        </p:spPr>
      </p:pic>
      <p:pic>
        <p:nvPicPr>
          <p:cNvPr id="264" name="Google Shape;264;p4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71994" y="1017725"/>
            <a:ext cx="4433230" cy="265906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4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LB 설정 - Jenkins</a:t>
            </a:r>
            <a:endParaRPr/>
          </a:p>
        </p:txBody>
      </p:sp>
      <p:sp>
        <p:nvSpPr>
          <p:cNvPr id="270" name="Google Shape;270;p4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ko"/>
              <a:t>매개변수</a:t>
            </a:r>
            <a:endParaRPr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ko"/>
              <a:t>Choice Parameter</a:t>
            </a:r>
            <a:endParaRPr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ko"/>
              <a:t>Name: ACTION</a:t>
            </a:r>
            <a:endParaRPr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ko"/>
              <a:t>Choices: REGISTER, DEREGISTER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ko"/>
              <a:t>Build Steps</a:t>
            </a:r>
            <a:endParaRPr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ko"/>
              <a:t>Execute shell</a:t>
            </a:r>
            <a:endParaRPr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ko"/>
              <a:t>/var/lib/jenkins/workspace/</a:t>
            </a:r>
            <a:r>
              <a:rPr lang="ko"/>
              <a:t>AWS_LB_FRONTEND</a:t>
            </a:r>
            <a:r>
              <a:rPr lang="ko"/>
              <a:t>/lb.sh ${ACTION}</a:t>
            </a:r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4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ko"/>
              <a:t>BACKEND Jenkins 만들기</a:t>
            </a:r>
            <a:endParaRPr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ko"/>
              <a:t>이름: AWS_LB_BACKEND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400"/>
          </a:p>
        </p:txBody>
      </p:sp>
      <p:sp>
        <p:nvSpPr>
          <p:cNvPr id="276" name="Google Shape;276;p4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LB 설정 - </a:t>
            </a:r>
            <a:r>
              <a:rPr lang="ko"/>
              <a:t>실습</a:t>
            </a:r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4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pm2란?</a:t>
            </a:r>
            <a:endParaRPr/>
          </a:p>
        </p:txBody>
      </p:sp>
      <p:sp>
        <p:nvSpPr>
          <p:cNvPr id="282" name="Google Shape;282;p4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ko"/>
              <a:t>Process Manager 2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ko"/>
              <a:t>Node.js 애플리케이션을 운영 환경에서 안정적으로 관리하고 구동할 수 있도록 돕는 대표적인 프로세스 관리자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ko"/>
              <a:t>백엔드 서버를 구축하고 운영할 때 실무에서 자주 사용되는 도구</a:t>
            </a:r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4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ko"/>
              <a:t>단일 스레드와 치명적 예외</a:t>
            </a:r>
            <a:endParaRPr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ko"/>
              <a:t>Node.js는 기본적으로 싱글 스레드로 동작</a:t>
            </a:r>
            <a:endParaRPr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ko"/>
              <a:t>에러가 발생하면 프로세스가 종료되는 특성으로 </a:t>
            </a:r>
            <a:r>
              <a:rPr lang="ko"/>
              <a:t>사용자 요청 중단 및 서비스 장애로 직결</a:t>
            </a:r>
            <a:endParaRPr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ko"/>
              <a:t>운영자가 수동으로 매번 서버를 재시작해야 하는 치명적 한계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ko"/>
              <a:t>개선책</a:t>
            </a:r>
            <a:endParaRPr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ko"/>
              <a:t>예기치 못한 종료를 방지</a:t>
            </a:r>
            <a:endParaRPr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ko"/>
              <a:t>서버가 재부팅되더라도 애플리케이션을 자동으로 실행</a:t>
            </a:r>
            <a:endParaRPr/>
          </a:p>
        </p:txBody>
      </p:sp>
      <p:sp>
        <p:nvSpPr>
          <p:cNvPr id="288" name="Google Shape;288;p4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pm2</a:t>
            </a:r>
            <a:r>
              <a:rPr lang="ko"/>
              <a:t>를 왜 사용할까?</a:t>
            </a:r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5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ko"/>
              <a:t>싱글 코어 자원 활용의 비효율성</a:t>
            </a:r>
            <a:endParaRPr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ko"/>
              <a:t>Node.js는 하나의 코어만 활용</a:t>
            </a:r>
            <a:endParaRPr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ko"/>
              <a:t>최신 서버 CPU는 멀티 코어 구조라, </a:t>
            </a:r>
            <a:r>
              <a:rPr lang="ko"/>
              <a:t>서버 사양이 높아져도 CPU 자원을 낭비하게 됨</a:t>
            </a:r>
            <a:endParaRPr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ko"/>
              <a:t>멀티 코어 병렬 처리 및 부하 분산 아키텍처 필수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ko"/>
              <a:t>개선책</a:t>
            </a:r>
            <a:endParaRPr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ko"/>
              <a:t>멀티 코어 시스템의 자원을 최대한 활용</a:t>
            </a:r>
            <a:endParaRPr/>
          </a:p>
        </p:txBody>
      </p:sp>
      <p:sp>
        <p:nvSpPr>
          <p:cNvPr id="294" name="Google Shape;294;p5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pm2를 왜 사용할까?</a:t>
            </a:r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5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ko"/>
              <a:t>프로세스 관리</a:t>
            </a:r>
            <a:endParaRPr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ko"/>
              <a:t>서버 실행, 종료, 재시작 지원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ko"/>
              <a:t>무중단 서비스</a:t>
            </a:r>
            <a:endParaRPr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ko"/>
              <a:t>프로세스가 에러로 종료되더라도, 자동으로 서버를 재시작</a:t>
            </a:r>
            <a:endParaRPr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ko"/>
              <a:t>서버가 재부팅되더라도 설정을 통해 자동으로 다시 실행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ko"/>
              <a:t>무중단 배포</a:t>
            </a:r>
            <a:endParaRPr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ko"/>
              <a:t>새 버전 배포 시 연결을 최대한 유지하면서 재시작</a:t>
            </a:r>
            <a:endParaRPr/>
          </a:p>
        </p:txBody>
      </p:sp>
      <p:sp>
        <p:nvSpPr>
          <p:cNvPr id="300" name="Google Shape;300;p5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pm2</a:t>
            </a:r>
            <a:r>
              <a:rPr lang="ko"/>
              <a:t> 특징</a:t>
            </a:r>
            <a:endParaRPr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5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ko"/>
              <a:t>클러스터 모드</a:t>
            </a:r>
            <a:endParaRPr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ko"/>
              <a:t>CPU 코어를 여러 프로세스로 활용</a:t>
            </a:r>
            <a:endParaRPr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ko"/>
              <a:t>프로세스 숫자만큼 멀티 코어 병렬 처리를 활용하여 성능을 향상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ko"/>
              <a:t>실시간 모니터링</a:t>
            </a:r>
            <a:endParaRPr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ko"/>
              <a:t>CPU, 메모리 사용량을 실시간으로 확인 가능</a:t>
            </a:r>
            <a:endParaRPr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ko"/>
              <a:t>각 프로세스 상태를</a:t>
            </a:r>
            <a:r>
              <a:rPr lang="ko"/>
              <a:t> 실시간으로 확인 가능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ko"/>
              <a:t>로그 관리</a:t>
            </a:r>
            <a:endParaRPr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ko"/>
              <a:t>일반 로그</a:t>
            </a:r>
            <a:r>
              <a:rPr lang="ko"/>
              <a:t>와 </a:t>
            </a:r>
            <a:r>
              <a:rPr lang="ko"/>
              <a:t>에러 로그</a:t>
            </a:r>
            <a:r>
              <a:rPr lang="ko"/>
              <a:t>를 파일로 분산 저장 및 관리</a:t>
            </a:r>
            <a:endParaRPr/>
          </a:p>
        </p:txBody>
      </p:sp>
      <p:sp>
        <p:nvSpPr>
          <p:cNvPr id="306" name="Google Shape;306;p5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pm2 특징</a:t>
            </a:r>
            <a:endParaRPr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5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ko"/>
              <a:t>sudo </a:t>
            </a:r>
            <a:r>
              <a:rPr lang="ko"/>
              <a:t>npm install -g pm2</a:t>
            </a:r>
            <a:endParaRPr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ko"/>
              <a:t>pm2 </a:t>
            </a:r>
            <a:r>
              <a:rPr lang="ko"/>
              <a:t>설치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ko"/>
              <a:t>pm2 init</a:t>
            </a:r>
            <a:endParaRPr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ko"/>
              <a:t>설정 파일 생성</a:t>
            </a:r>
            <a:endParaRPr/>
          </a:p>
        </p:txBody>
      </p:sp>
      <p:sp>
        <p:nvSpPr>
          <p:cNvPr id="312" name="Google Shape;312;p5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pm2 </a:t>
            </a:r>
            <a:r>
              <a:rPr lang="ko"/>
              <a:t>설치</a:t>
            </a:r>
            <a:endParaRPr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5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ko"/>
              <a:t>pkill -f "node dist/main.js" || true</a:t>
            </a:r>
            <a:endParaRPr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ko"/>
              <a:t>기존 backend 서비스 종료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ko"/>
              <a:t>sudo fuser -k 5173/tcp || true</a:t>
            </a:r>
            <a:endParaRPr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ko"/>
              <a:t>기존 frontend 서비스 종료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ko"/>
              <a:t>cd /var/www/lecture-eval/backend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ko"/>
              <a:t>pm2 start </a:t>
            </a:r>
            <a:r>
              <a:rPr lang="ko"/>
              <a:t>launch-backend.config.js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ko"/>
              <a:t>cd /var/www/lecture-eval/frontend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ko"/>
              <a:t>pm2 start launch-frontend.config.js</a:t>
            </a:r>
            <a:endParaRPr/>
          </a:p>
        </p:txBody>
      </p:sp>
      <p:sp>
        <p:nvSpPr>
          <p:cNvPr id="318" name="Google Shape;318;p5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pm2 </a:t>
            </a:r>
            <a:r>
              <a:rPr lang="ko"/>
              <a:t>실행</a:t>
            </a:r>
            <a:endParaRPr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5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pm2 실행 </a:t>
            </a:r>
            <a:r>
              <a:rPr lang="ko"/>
              <a:t>- </a:t>
            </a:r>
            <a:r>
              <a:rPr lang="ko"/>
              <a:t>자동화</a:t>
            </a:r>
            <a:endParaRPr/>
          </a:p>
        </p:txBody>
      </p:sp>
      <p:sp>
        <p:nvSpPr>
          <p:cNvPr id="324" name="Google Shape;324;p5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ko"/>
              <a:t>cd /var/lib/jenkins/workspace/Production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ko"/>
              <a:t>sudo vi deploy.sh</a:t>
            </a:r>
            <a:endParaRPr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ko"/>
              <a:t>pm2 reload /var/www/lecture-eval/backend/launch-backend.config.js</a:t>
            </a:r>
            <a:endParaRPr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ko"/>
              <a:t>pm2 restart /var/www/lecture-eval/backend/launch-backend.config.js</a:t>
            </a:r>
            <a:endParaRPr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ko"/>
              <a:t>pm2 reload /var/www/lecture-eval/frontend/launch-frontend.config.js</a:t>
            </a:r>
            <a:endParaRPr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ko"/>
              <a:t>pm2 restart /var/www/lecture-eval/frontend/launch-frontend.config.js</a:t>
            </a:r>
            <a:endParaRPr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5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pm2 실행 - 자동화</a:t>
            </a:r>
            <a:endParaRPr/>
          </a:p>
        </p:txBody>
      </p:sp>
      <p:pic>
        <p:nvPicPr>
          <p:cNvPr id="330" name="Google Shape;330;p5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017725"/>
            <a:ext cx="6827899" cy="3770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5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순환패치 - AMI로 인스턴스 복제</a:t>
            </a:r>
            <a:endParaRPr/>
          </a:p>
        </p:txBody>
      </p:sp>
      <p:sp>
        <p:nvSpPr>
          <p:cNvPr id="336" name="Google Shape;336;p5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t/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t/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t/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t/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ko"/>
              <a:t>AMI </a:t>
            </a:r>
            <a:r>
              <a:rPr lang="ko"/>
              <a:t>이름: 260815_backend_devops</a:t>
            </a:r>
            <a:endParaRPr/>
          </a:p>
        </p:txBody>
      </p:sp>
      <p:pic>
        <p:nvPicPr>
          <p:cNvPr id="337" name="Google Shape;337;p5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152475"/>
            <a:ext cx="8345524" cy="1667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5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순환패치 - AMI로 인스턴스 복제</a:t>
            </a:r>
            <a:endParaRPr/>
          </a:p>
        </p:txBody>
      </p:sp>
      <p:sp>
        <p:nvSpPr>
          <p:cNvPr id="343" name="Google Shape;343;p5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t/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t/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t/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ko"/>
              <a:t>이름: backend_devops2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ko"/>
              <a:t>설정 값은 기존 인스턴스와 동일</a:t>
            </a:r>
            <a:endParaRPr/>
          </a:p>
        </p:txBody>
      </p:sp>
      <p:pic>
        <p:nvPicPr>
          <p:cNvPr id="344" name="Google Shape;344;p5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017725"/>
            <a:ext cx="8046499" cy="1394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5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순환패치 - Jenkins(AWS_LB_FRONTEND)</a:t>
            </a:r>
            <a:endParaRPr/>
          </a:p>
        </p:txBody>
      </p:sp>
      <p:sp>
        <p:nvSpPr>
          <p:cNvPr id="350" name="Google Shape;350;p5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ko"/>
              <a:t>매개변수</a:t>
            </a:r>
            <a:endParaRPr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ko"/>
              <a:t>Choice Parameter</a:t>
            </a:r>
            <a:endParaRPr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ko"/>
              <a:t>Name: TARGET_GROUP</a:t>
            </a:r>
            <a:endParaRPr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ko"/>
              <a:t>Choices: A, B, ALL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ko"/>
              <a:t>Build Steps</a:t>
            </a:r>
            <a:endParaRPr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ko"/>
              <a:t>Execute shell</a:t>
            </a:r>
            <a:endParaRPr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ko"/>
              <a:t>/var/lib/jenkins/workspace/AWS_LB_FRONTEND/lb.sh ${ACTION} ${TARGET_GROUP}</a:t>
            </a:r>
            <a:endParaRPr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6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ko"/>
              <a:t>cd /var/lib/jenkins/workspace/AWS_LB_FRONTEND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ko"/>
              <a:t>sudo vi </a:t>
            </a:r>
            <a:r>
              <a:rPr lang="ko"/>
              <a:t>dp_A.list</a:t>
            </a:r>
            <a:endParaRPr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ko"/>
              <a:t>1</a:t>
            </a:r>
            <a:r>
              <a:rPr lang="ko"/>
              <a:t>번 서버 인스턴스 ID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ko"/>
              <a:t>sudo vi dp_B.list</a:t>
            </a:r>
            <a:endParaRPr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ko"/>
              <a:t>2번 서버 인스턴스 ID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ko"/>
              <a:t>sudo vi dp_ALL.list</a:t>
            </a:r>
            <a:endParaRPr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ko"/>
              <a:t>전체 서버 인스턴스 ID</a:t>
            </a:r>
            <a:endParaRPr/>
          </a:p>
        </p:txBody>
      </p:sp>
      <p:sp>
        <p:nvSpPr>
          <p:cNvPr id="356" name="Google Shape;356;p6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순환패치</a:t>
            </a:r>
            <a:r>
              <a:rPr lang="ko"/>
              <a:t> - Jenkins(AWS_LB_FRONTEND)</a:t>
            </a:r>
            <a:endParaRPr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6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순환패치 - Jenkins(AWS_LB_FRONTEND)</a:t>
            </a:r>
            <a:endParaRPr/>
          </a:p>
        </p:txBody>
      </p:sp>
      <p:sp>
        <p:nvSpPr>
          <p:cNvPr id="362" name="Google Shape;362;p6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ko"/>
              <a:t>cd /var/lib/jenkins/workspace/AWS_LB_FRONTEND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ko"/>
              <a:t>sudo vi lb.sh</a:t>
            </a:r>
            <a:endParaRPr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ko"/>
              <a:t>ID를 FILE_NAME으로 수정</a:t>
            </a:r>
            <a:endParaRPr/>
          </a:p>
          <a:p>
            <a:pPr indent="-317500" lvl="2" marL="1371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ko"/>
              <a:t>FILE_NAME="dp_$TARGET_GROUP.list"</a:t>
            </a:r>
            <a:endParaRPr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ko"/>
              <a:t>메인 로직 위 아래에 스크립트 추가</a:t>
            </a:r>
            <a:endParaRPr/>
          </a:p>
          <a:p>
            <a:pPr indent="-317500" lvl="2" marL="1371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ko"/>
              <a:t>while IFS= read -r ID; do</a:t>
            </a:r>
            <a:endParaRPr/>
          </a:p>
          <a:p>
            <a:pPr indent="-317500" lvl="2" marL="1371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ko"/>
              <a:t>done &lt; ${FILE_NAME}</a:t>
            </a:r>
            <a:endParaRPr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6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순환패치 - Jenkins(AWS_LB_FRONTEND)</a:t>
            </a:r>
            <a:endParaRPr/>
          </a:p>
        </p:txBody>
      </p:sp>
      <p:pic>
        <p:nvPicPr>
          <p:cNvPr id="368" name="Google Shape;368;p6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017725"/>
            <a:ext cx="7439746" cy="382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6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ko"/>
              <a:t>BACKEND Jenkins </a:t>
            </a:r>
            <a:r>
              <a:rPr lang="ko"/>
              <a:t>설정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400"/>
          </a:p>
        </p:txBody>
      </p:sp>
      <p:sp>
        <p:nvSpPr>
          <p:cNvPr id="374" name="Google Shape;374;p6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순환패치 </a:t>
            </a:r>
            <a:r>
              <a:rPr lang="ko"/>
              <a:t>- 실습(AWS_LB_BACKEND)</a:t>
            </a:r>
            <a:endParaRPr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6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순환패치 - Jenkins(</a:t>
            </a:r>
            <a:r>
              <a:rPr lang="ko"/>
              <a:t>Production</a:t>
            </a:r>
            <a:r>
              <a:rPr lang="ko"/>
              <a:t>)</a:t>
            </a:r>
            <a:endParaRPr/>
          </a:p>
        </p:txBody>
      </p:sp>
      <p:sp>
        <p:nvSpPr>
          <p:cNvPr id="380" name="Google Shape;380;p6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ko"/>
              <a:t>매개변수</a:t>
            </a:r>
            <a:endParaRPr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ko"/>
              <a:t>Choice Parameter</a:t>
            </a:r>
            <a:endParaRPr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ko"/>
              <a:t>Name: TARGET_GROUP</a:t>
            </a:r>
            <a:endParaRPr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ko"/>
              <a:t>Choices: A, B, ALL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ko"/>
              <a:t>Build Steps</a:t>
            </a:r>
            <a:endParaRPr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ko"/>
              <a:t>Execute shell</a:t>
            </a:r>
            <a:endParaRPr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ko"/>
              <a:t>/var/lib/jenkins/workspace/Production/deploy.sh ${TARGET_GROUP}</a:t>
            </a:r>
            <a:endParaRPr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6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ko"/>
              <a:t>cd /var/lib/jenkins/workspace/Production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ko"/>
              <a:t>sudo vi dp_A.list</a:t>
            </a:r>
            <a:endParaRPr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ko"/>
              <a:t>1번 서버 인스턴스 Private IP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ko"/>
              <a:t>sudo vi dp_B.list</a:t>
            </a:r>
            <a:endParaRPr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ko"/>
              <a:t>2번 서버 인스턴스 </a:t>
            </a:r>
            <a:r>
              <a:rPr lang="ko"/>
              <a:t>Private </a:t>
            </a:r>
            <a:r>
              <a:rPr lang="ko"/>
              <a:t>IP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ko"/>
              <a:t>sudo vi dp_ALL.list</a:t>
            </a:r>
            <a:endParaRPr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ko"/>
              <a:t>전체 서버 인스턴스 </a:t>
            </a:r>
            <a:r>
              <a:rPr lang="ko"/>
              <a:t>Private </a:t>
            </a:r>
            <a:r>
              <a:rPr lang="ko"/>
              <a:t>IP</a:t>
            </a:r>
            <a:endParaRPr/>
          </a:p>
        </p:txBody>
      </p:sp>
      <p:sp>
        <p:nvSpPr>
          <p:cNvPr id="386" name="Google Shape;386;p6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순환패치 - Jenkins(</a:t>
            </a:r>
            <a:r>
              <a:rPr lang="ko"/>
              <a:t>Production</a:t>
            </a:r>
            <a:r>
              <a:rPr lang="ko"/>
              <a:t>)</a:t>
            </a:r>
            <a:endParaRPr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6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순환패치 - Jenkins(</a:t>
            </a:r>
            <a:r>
              <a:rPr lang="ko"/>
              <a:t>Production</a:t>
            </a:r>
            <a:r>
              <a:rPr lang="ko"/>
              <a:t>)</a:t>
            </a:r>
            <a:endParaRPr/>
          </a:p>
        </p:txBody>
      </p:sp>
      <p:sp>
        <p:nvSpPr>
          <p:cNvPr id="392" name="Google Shape;392;p6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ko"/>
              <a:t>cd /var/lib/jenkins/workspace/Production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ko"/>
              <a:t>sudo vi deploy.sh</a:t>
            </a:r>
            <a:endParaRPr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ko"/>
              <a:t>REMOTE_IP 변수 제거</a:t>
            </a:r>
            <a:endParaRPr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ko"/>
              <a:t>FILE_NAME </a:t>
            </a:r>
            <a:r>
              <a:rPr lang="ko"/>
              <a:t>변수 추가</a:t>
            </a:r>
            <a:endParaRPr/>
          </a:p>
          <a:p>
            <a:pPr indent="-317500" lvl="2" marL="1371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ko"/>
              <a:t>FILE_NAME="/var/lib/jenkins/workspace/Production/dp_$TARGET_GROUP.list"</a:t>
            </a:r>
            <a:endParaRPr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ko"/>
              <a:t>전송, 적용 로직</a:t>
            </a:r>
            <a:r>
              <a:rPr lang="ko"/>
              <a:t> 위 아래에 스크립트 추가</a:t>
            </a:r>
            <a:endParaRPr/>
          </a:p>
          <a:p>
            <a:pPr indent="-317500" lvl="2" marL="1371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ko"/>
              <a:t>while IFS= read -r </a:t>
            </a:r>
            <a:r>
              <a:rPr lang="ko"/>
              <a:t>REMOTE_IP</a:t>
            </a:r>
            <a:r>
              <a:rPr lang="ko"/>
              <a:t>; do</a:t>
            </a:r>
            <a:endParaRPr/>
          </a:p>
          <a:p>
            <a:pPr indent="-317500" lvl="2" marL="1371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ko"/>
              <a:t>done &lt; ${FILE_NAME}</a:t>
            </a:r>
            <a:endParaRPr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p6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순환패치 - Jenkins(Production)</a:t>
            </a:r>
            <a:endParaRPr/>
          </a:p>
        </p:txBody>
      </p:sp>
      <p:pic>
        <p:nvPicPr>
          <p:cNvPr id="398" name="Google Shape;398;p6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017725"/>
            <a:ext cx="3648076" cy="1870905"/>
          </a:xfrm>
          <a:prstGeom prst="rect">
            <a:avLst/>
          </a:prstGeom>
          <a:noFill/>
          <a:ln>
            <a:noFill/>
          </a:ln>
        </p:spPr>
      </p:pic>
      <p:pic>
        <p:nvPicPr>
          <p:cNvPr id="399" name="Google Shape;399;p6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1700" y="2888625"/>
            <a:ext cx="3648075" cy="21410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6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버전 관리</a:t>
            </a:r>
            <a:r>
              <a:rPr lang="ko"/>
              <a:t>란?</a:t>
            </a:r>
            <a:endParaRPr/>
          </a:p>
        </p:txBody>
      </p:sp>
      <p:sp>
        <p:nvSpPr>
          <p:cNvPr id="405" name="Google Shape;405;p6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ko"/>
              <a:t>파일이나 소프트웨어가 시간에 따라 어떻게 변경되었는지를 기록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ko"/>
              <a:t>특정 시점의 상태를 추적하거나 복원할 수 있도록 관리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ko"/>
              <a:t>관리 방법</a:t>
            </a:r>
            <a:endParaRPr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ko"/>
              <a:t>MAJOR.MINOR.PATCH</a:t>
            </a:r>
            <a:endParaRPr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ko"/>
              <a:t>MAJOR: 호환성이 깨지는 큰 변경</a:t>
            </a:r>
            <a:endParaRPr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ko"/>
              <a:t>MINOR: 기존 기능과 호환되는 새로운 기능을 추가한 경우</a:t>
            </a:r>
            <a:endParaRPr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ko"/>
              <a:t>PATCH: 버그 수정이나 작은 변경</a:t>
            </a:r>
            <a:endParaRPr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6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버전 관리 </a:t>
            </a:r>
            <a:r>
              <a:rPr lang="ko"/>
              <a:t>- Jenkins(Production)</a:t>
            </a:r>
            <a:endParaRPr/>
          </a:p>
        </p:txBody>
      </p:sp>
      <p:sp>
        <p:nvSpPr>
          <p:cNvPr id="411" name="Google Shape;411;p6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ko"/>
              <a:t>매개변수</a:t>
            </a:r>
            <a:endParaRPr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ko"/>
              <a:t>String </a:t>
            </a:r>
            <a:r>
              <a:rPr lang="ko"/>
              <a:t>Parameter</a:t>
            </a:r>
            <a:endParaRPr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ko"/>
              <a:t>Name: VERSION</a:t>
            </a:r>
            <a:endParaRPr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ko"/>
              <a:t>Default Value: None</a:t>
            </a:r>
            <a:endParaRPr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ko"/>
              <a:t>설명: ex) 1.0.0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ko"/>
              <a:t>Build Steps</a:t>
            </a:r>
            <a:endParaRPr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ko"/>
              <a:t>Execute shell</a:t>
            </a:r>
            <a:endParaRPr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ko"/>
              <a:t>/var/lib/jenkins/workspace/Production/deploy.sh ${TARGET_GROUP} ${</a:t>
            </a:r>
            <a:r>
              <a:rPr lang="ko"/>
              <a:t>VERSION</a:t>
            </a:r>
            <a:r>
              <a:rPr lang="ko"/>
              <a:t>}</a:t>
            </a:r>
            <a:endParaRPr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p7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버전 관리 - Jenkins(Production)</a:t>
            </a:r>
            <a:endParaRPr/>
          </a:p>
        </p:txBody>
      </p:sp>
      <p:sp>
        <p:nvSpPr>
          <p:cNvPr id="417" name="Google Shape;417;p7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ko"/>
              <a:t>cd /var/lib/jenkins/workspace/Production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ko"/>
              <a:t>sudo vi deploy.sh</a:t>
            </a:r>
            <a:endParaRPr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ko"/>
              <a:t>다음장 스크립트 참고</a:t>
            </a:r>
            <a:endParaRPr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p7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버전 관리 - Jenkins(Production)</a:t>
            </a:r>
            <a:endParaRPr/>
          </a:p>
        </p:txBody>
      </p:sp>
      <p:sp>
        <p:nvSpPr>
          <p:cNvPr id="423" name="Google Shape;423;p7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25000" lnSpcReduction="20000"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VERSION_DIR="/var/lib/jenkins/workspace/Production/version"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if [ "$VERSION" = "None" ]; then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    echo "Not backup version"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else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    echo "Backup version: $VERSION"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    mkdir -p "$VERSION_DIR/frontend"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    mkdir -p "$VERSION_DIR/backend"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    cp ${FRONTEND_FILE} "$VERSION_DIR/frontend/frontend-deploy-$VERSION.zip"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    cp ${BACKEND_FILE} "$VERSION_DIR/backend/backend-deploy-$VERSION.zip"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    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    echo "Backup end"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fi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p7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버전 관리 - Jenkins(Production)</a:t>
            </a:r>
            <a:endParaRPr/>
          </a:p>
        </p:txBody>
      </p:sp>
      <p:pic>
        <p:nvPicPr>
          <p:cNvPr id="429" name="Google Shape;429;p7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017725"/>
            <a:ext cx="6193744" cy="382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p7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ko"/>
              <a:t>Rollback 젠킨스 생성</a:t>
            </a:r>
            <a:endParaRPr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ko"/>
              <a:t>매개변수</a:t>
            </a:r>
            <a:endParaRPr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ko"/>
              <a:t>String Parameter</a:t>
            </a:r>
            <a:endParaRPr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ko"/>
              <a:t>Name: RB_VERSION</a:t>
            </a:r>
            <a:endParaRPr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ko"/>
              <a:t>Default Value: None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ko"/>
              <a:t>RB_VERSION으로 </a:t>
            </a:r>
            <a:r>
              <a:rPr lang="ko"/>
              <a:t>Rollback 하는 sh 작성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400"/>
          </a:p>
        </p:txBody>
      </p:sp>
      <p:sp>
        <p:nvSpPr>
          <p:cNvPr id="435" name="Google Shape;435;p7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롤백</a:t>
            </a:r>
            <a:r>
              <a:rPr lang="ko"/>
              <a:t> - 실습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pearmint">
  <a:themeElements>
    <a:clrScheme name="Spearmint">
      <a:dk1>
        <a:srgbClr val="202729"/>
      </a:dk1>
      <a:lt1>
        <a:srgbClr val="FFFFFF"/>
      </a:lt1>
      <a:dk2>
        <a:srgbClr val="4BA173"/>
      </a:dk2>
      <a:lt2>
        <a:srgbClr val="63D297"/>
      </a:lt2>
      <a:accent1>
        <a:srgbClr val="353744"/>
      </a:accent1>
      <a:accent2>
        <a:srgbClr val="424242"/>
      </a:accent2>
      <a:accent3>
        <a:srgbClr val="616161"/>
      </a:accent3>
      <a:accent4>
        <a:srgbClr val="999999"/>
      </a:accent4>
      <a:accent5>
        <a:srgbClr val="FF5252"/>
      </a:accent5>
      <a:accent6>
        <a:srgbClr val="FFF176"/>
      </a:accent6>
      <a:hlink>
        <a:srgbClr val="FF5252"/>
      </a:hlink>
      <a:folHlink>
        <a:srgbClr val="FF525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