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Proxima Nova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ProximaNova-bold.fntdata"/><Relationship Id="rId21" Type="http://schemas.openxmlformats.org/officeDocument/2006/relationships/slide" Target="slides/slide16.xml"/><Relationship Id="rId43" Type="http://schemas.openxmlformats.org/officeDocument/2006/relationships/font" Target="fonts/ProximaNova-regular.fntdata"/><Relationship Id="rId24" Type="http://schemas.openxmlformats.org/officeDocument/2006/relationships/slide" Target="slides/slide19.xml"/><Relationship Id="rId46" Type="http://schemas.openxmlformats.org/officeDocument/2006/relationships/font" Target="fonts/ProximaNova-boldItalic.fntdata"/><Relationship Id="rId23" Type="http://schemas.openxmlformats.org/officeDocument/2006/relationships/slide" Target="slides/slide18.xml"/><Relationship Id="rId45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ebbf065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ebbf06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481ee5f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481ee5f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481ee5fca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481ee5fca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81ee5fc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481ee5fc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81ee5fc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481ee5fc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481ee5fca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481ee5fca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481ee5fca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481ee5fc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4bd617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54bd617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4bd617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4bd617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8b5ffd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8b5ffd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8b5ffdc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8b5ffdc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481ee5fca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481ee5fca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b2649b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5b2649b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b2649b9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b2649b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b2649b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b2649b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b2649b9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b2649b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b2649b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5b2649b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481ee5fca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481ee5fc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481ee5fca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481ee5fca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481ee5fca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481ee5fca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481ee5fca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481ee5fca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481ee5fca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481ee5fca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20ddb8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20ddb8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8b5ffd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8b5ffd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8b5ffdc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58b5ffd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8b5ffdc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58b5ffdc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8b5ffdc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58b5ffdc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58b5ffdc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58b5ffdc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8b5ffdc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58b5ffdc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8b5ffdc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58b5ffdc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8b5ffdc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58b5ffdc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8b5ffdc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58b5ffdc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81ee5fca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481ee5fca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8b5ffdc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58b5ffd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8b5ffdc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58b5ffdc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8b5ffdc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58b5ffdc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20ddb80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820ddb80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#3 - AWS </a:t>
            </a:r>
            <a:r>
              <a:rPr lang="ko"/>
              <a:t>환경 설정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AWS 환경 설정 및 실습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클라우드 서비스의 이해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AWS 계정 생성 및 크레딧 미션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EC2 </a:t>
            </a:r>
            <a:r>
              <a:rPr b="1" lang="ko"/>
              <a:t>인스턴스 생성 및 연결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리눅스 명령어 실습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클라우드 컴퓨팅이란?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가상방식의 인프라 대여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직접 물리적 서버실을 구축하지 않고, 인터넷망(Cloud)을 통해 고성능 컴퓨터 자원을 필요한 만큼 즉시 빌려 쓰는 서비스 모델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트래픽이 폭증하면 단 몇 분 만에 수십 대의 서버를 늘리고(Scale-out), 필요가 없어지면 즉시 폐기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Why?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초기 하드웨어 구매 비용(CAPEX)을 투입할 필요 없이, 오직 실제 사용한 시간 및 데이터 단위로 비용을 지급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물리적인 배선, 정전 대비 설비(UPS), 하드웨어 고장 조치의 효용성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- Amazon Web Services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업계 1위이자 전 세계에서 가장 익숙한 플랫폼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컴퓨팅, 서버리스, 기계학습, IoT에 이르기까지 200개 이상의 전용 파트 제품군을 가장 먼저 개척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장점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세계 최대의 파트너 생태계, 무수히 넓은 글로벌 리전(Region) 선택폭, 고도로 안정적인 인프라 품질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복잡한 리소스 가격 체계 및 과금 모니터링 난이도, 초보자가 배우기에 가장 방대</a:t>
            </a:r>
            <a:r>
              <a:rPr lang="ko"/>
              <a:t>하고 난해</a:t>
            </a:r>
            <a:r>
              <a:rPr lang="ko"/>
              <a:t>한 메뉴 구성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주요 대상 타겟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전체 도메인, 글로벌 스타트업, 웹 서비스 전체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Azure - Microsoft Azure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윈도우즈와 엔터프라이즈의 압도적 시너지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Windows Server, MS SQL 등을 활용 중인 기업에 완벽한 연계를 지원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장점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MS 오피스 및 기존 기업 솔루션과의 계약 통합 및 대형 할인 적용 혜택, 최고의 보안 정책 제어 편의성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전통적인 오픈소스(Linux 계열) 기반 인프라 구축 시 AWS에 비해 조금 아쉬운 유연성 및 호환성 피드백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주요 대상 타겟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전통 중대형 엔터프라이즈, 공공 기관, 금융권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GCP - Google Cloud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구글의 검색 및 인프라 빅데이터 기술의 강자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뛰어난 컨테이너 오케스트레이션 성능과 빅데이터 인프라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장점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빅쿼리 등 업계 최고 성능의 초대형 분석 도구, 고도화된 머신러닝 구동 속도 및 저렴한 요금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AWS나 Azure에 비해 기업 비즈니스 중심의 글로벌 리셀러/파트너 지원망 부족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주요 대상 타겟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데이터 중심 스타트업, AI/ML 연구 및 빅데이터 개발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</a:t>
            </a:r>
            <a:r>
              <a:rPr lang="ko"/>
              <a:t>계정 생성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준비 사항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이메일 주소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결제 수단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주소 정보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계정 </a:t>
            </a:r>
            <a:r>
              <a:rPr lang="ko"/>
              <a:t>보안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MFA - AWS Multi Factor Authentication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다중 인증 시스템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패스키 또는 보안 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인증 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하드웨어 TOTP 토큰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MFA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패스키 또는 보안 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IAM 이동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MFA </a:t>
            </a:r>
            <a:r>
              <a:rPr lang="ko"/>
              <a:t>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지문, 얼굴 또는 화면 잠금을 사용하여 인증.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인증 관리자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우측 상단 계정 - </a:t>
            </a:r>
            <a:r>
              <a:rPr lang="ko"/>
              <a:t>보안 자격 증명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MFA 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Microsoft Authenticator, Google OTP 등 앱에서 인증.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MFA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211095" cy="129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45938"/>
            <a:ext cx="5211100" cy="118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038650"/>
            <a:ext cx="8035074" cy="4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MFA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51373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189" y="1017725"/>
            <a:ext cx="425353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기본 100달러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가입과 동시에 증정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미션 수행형 100달러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EC2</a:t>
            </a:r>
            <a:r>
              <a:rPr lang="ko"/>
              <a:t>를 사용하여 인스턴스 실행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Aurora </a:t>
            </a:r>
            <a:r>
              <a:rPr lang="ko"/>
              <a:t>또는 RDS 데이터베이스</a:t>
            </a:r>
            <a:r>
              <a:rPr lang="ko"/>
              <a:t> </a:t>
            </a:r>
            <a:r>
              <a:rPr lang="ko"/>
              <a:t>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 Lambda</a:t>
            </a:r>
            <a:r>
              <a:rPr lang="ko"/>
              <a:t>를 사용하여 웹 앱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 Budgets</a:t>
            </a:r>
            <a:r>
              <a:rPr lang="ko"/>
              <a:t>를 사용하여 비용 예산 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Amazon Bedrock </a:t>
            </a:r>
            <a:r>
              <a:rPr lang="ko"/>
              <a:t>플레이그라운드에서 파운데이션 생성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050" y="1017725"/>
            <a:ext cx="3733050" cy="26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 - EC2를 사용하여 인스턴스 실행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14540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 - Amazon Bedrock 플레이그라운드에서 파운데이션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5850"/>
            <a:ext cx="5595175" cy="34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 - AWS Budgets를 사용하여 비용 예산 설정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2150"/>
            <a:ext cx="5888776" cy="36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 - AWS Lambda를 사용하여 웹 앱 생성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1698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프리티어 제도 - Aurora 또는 RDS 데이터베이스 생성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10442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</a:t>
            </a:r>
            <a:r>
              <a:rPr lang="ko"/>
              <a:t>용어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Region - </a:t>
            </a:r>
            <a:r>
              <a:rPr lang="ko"/>
              <a:t>지역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 </a:t>
            </a:r>
            <a:r>
              <a:rPr lang="ko"/>
              <a:t>데이터센터가 위치한 지역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주요 지역 : 북미, 아시아, 유럽, 남미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서비스 지연시간(latency)과 법적 규제를 고려하여 선택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AZ - Availability Zone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하나의 Region 내에 존재하는 독립 데이터센터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ap-northeast-2a, ap-northeast-2b, ap-northeast-2c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VPC - Virtual Private Cloud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 </a:t>
            </a:r>
            <a:r>
              <a:rPr lang="ko"/>
              <a:t>내부에 만드는 독립적인 가상 네트워크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다른 사용자와 네트워크가 논리적으로 완전히 분리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용어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EC2 - Elastic Compute Cloud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AWS에서 제공하는 가상 서버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Linux, Windows 서버를 선택하여 생성 가능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CPU, 메모리, 용량 등 필요한 사양으로 세팅 가능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인스턴스</a:t>
            </a:r>
            <a:r>
              <a:rPr lang="ko"/>
              <a:t> - Instance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 1대를 부르는 단위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Key Pair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서버에 연결에 사용되는 파일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일종의 비밀번호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용어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EBS - Elastic Block Store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EC2에 연결되는 가상 디스크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 재부팅 후에도 데이터 유지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AMI - Amazon Machine Image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가상의 EC2 이미지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운영체제, EBS 등 AMI 생성 시점(snapshot)의 설정 및 데이터를 복제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용어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보안 그룹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AWS</a:t>
            </a:r>
            <a:r>
              <a:rPr lang="ko"/>
              <a:t>의 가상 방화벽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허용된 IP와 Port만 통신 가능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인바운드 - Inbound Rules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외부에서 서버로 들어오는 트래픽을 제어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80(HTTP), 443(HTTPS), 22(SSH)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아웃</a:t>
            </a:r>
            <a:r>
              <a:rPr lang="ko"/>
              <a:t>바운드 - Outbound Rules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서버에서 외부로 나가는 트래픽을 제어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패키지 다운로드, API 호출 등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용어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ALB - Application Load Balancing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외부에서 들어오는 트래픽을 자동으로 분산 시켜주는 기능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서버의 과부하를 줄이고, 서비스의 안정성을 높임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타겟 그룹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ELB</a:t>
            </a:r>
            <a:r>
              <a:rPr lang="ko"/>
              <a:t>가 트래픽을 전달하는 서버의 모임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헬스 체크(Health Check)를 통해 정상 서버에만 전달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헬스 체크 - Health Check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 상태 점검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인스턴스 생성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인스턴스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리전: </a:t>
            </a:r>
            <a:r>
              <a:rPr lang="ko"/>
              <a:t>아시아 태평양 (서울)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AZ: </a:t>
            </a:r>
            <a:r>
              <a:rPr lang="ko"/>
              <a:t>ap-northeast-2c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Test_server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24.04, Windows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t3.small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새 키 페어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인스턴스 생성</a:t>
            </a:r>
            <a:endParaRPr/>
          </a:p>
        </p:txBody>
      </p:sp>
      <p:pic>
        <p:nvPicPr>
          <p:cNvPr id="202" name="Google Shape;2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227501" cy="17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350" y="1017725"/>
            <a:ext cx="2416811" cy="17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058425"/>
            <a:ext cx="4227499" cy="1448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인스턴스 생성</a:t>
            </a:r>
            <a:endParaRPr/>
          </a:p>
        </p:txBody>
      </p:sp>
      <p:pic>
        <p:nvPicPr>
          <p:cNvPr id="210" name="Google Shape;2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300"/>
            <a:ext cx="3012100" cy="31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1837" y="1017300"/>
            <a:ext cx="3270327" cy="310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2176" y="1017300"/>
            <a:ext cx="2017499" cy="195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대상 그룹</a:t>
            </a:r>
            <a:endParaRPr/>
          </a:p>
        </p:txBody>
      </p:sp>
      <p:pic>
        <p:nvPicPr>
          <p:cNvPr id="218" name="Google Shape;2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600" y="1017725"/>
            <a:ext cx="2740908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383" y="1017725"/>
            <a:ext cx="3662190" cy="3563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017725"/>
            <a:ext cx="172402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대상 그룹</a:t>
            </a:r>
            <a:endParaRPr/>
          </a:p>
        </p:txBody>
      </p:sp>
      <p:pic>
        <p:nvPicPr>
          <p:cNvPr id="226" name="Google Shape;2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222377" cy="313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대상 그룹</a:t>
            </a:r>
            <a:endParaRPr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89049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</a:t>
            </a:r>
            <a:endParaRPr/>
          </a:p>
        </p:txBody>
      </p:sp>
      <p:pic>
        <p:nvPicPr>
          <p:cNvPr id="238" name="Google Shape;2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9335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8450" y="1012950"/>
            <a:ext cx="343852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462000"/>
            <a:ext cx="2838751" cy="248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8051" y="2473075"/>
            <a:ext cx="5014366" cy="246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</a:t>
            </a:r>
            <a:endParaRPr/>
          </a:p>
        </p:txBody>
      </p:sp>
      <p:pic>
        <p:nvPicPr>
          <p:cNvPr id="247" name="Google Shape;2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591675" cy="188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03400"/>
            <a:ext cx="8404877" cy="12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</a:t>
            </a:r>
            <a:endParaRPr/>
          </a:p>
        </p:txBody>
      </p:sp>
      <p:pic>
        <p:nvPicPr>
          <p:cNvPr id="254" name="Google Shape;2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13"/>
            <a:ext cx="6020725" cy="338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</a:t>
            </a:r>
            <a:endParaRPr/>
          </a:p>
        </p:txBody>
      </p:sp>
      <p:pic>
        <p:nvPicPr>
          <p:cNvPr id="260" name="Google Shape;2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857399" cy="3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리눅스 실습</a:t>
            </a:r>
            <a:endParaRPr/>
          </a:p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리눅스 명령어 파일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AMI </a:t>
            </a:r>
            <a:r>
              <a:rPr lang="ko"/>
              <a:t>생성</a:t>
            </a:r>
            <a:endParaRPr/>
          </a:p>
        </p:txBody>
      </p:sp>
      <p:pic>
        <p:nvPicPr>
          <p:cNvPr id="272" name="Google Shape;27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742950" cy="9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43875"/>
            <a:ext cx="4484516" cy="273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AMI 생성</a:t>
            </a:r>
            <a:endParaRPr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55925"/>
            <a:ext cx="8146350" cy="6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28025"/>
            <a:ext cx="2853934" cy="205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AMI 생성</a:t>
            </a:r>
            <a:endParaRPr/>
          </a:p>
        </p:txBody>
      </p:sp>
      <p:pic>
        <p:nvPicPr>
          <p:cNvPr id="287" name="Google Shape;2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80701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6449" y="1017725"/>
            <a:ext cx="3351200" cy="31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실습</a:t>
            </a:r>
            <a:endParaRPr/>
          </a:p>
        </p:txBody>
      </p:sp>
      <p:sp>
        <p:nvSpPr>
          <p:cNvPr id="294" name="Google Shape;294;p4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인스턴스 </a:t>
            </a:r>
            <a:r>
              <a:rPr lang="ko"/>
              <a:t>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리전: 아시아 태평양 (서울)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AZ: ap-northeast-2d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practice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t3.micro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</a:t>
            </a:r>
            <a:r>
              <a:rPr lang="ko"/>
              <a:t>기존</a:t>
            </a:r>
            <a:r>
              <a:rPr lang="ko"/>
              <a:t> 키 페어 </a:t>
            </a:r>
            <a:r>
              <a:rPr lang="ko"/>
              <a:t>사용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  <p:sp>
        <p:nvSpPr>
          <p:cNvPr id="295" name="Google Shape;295;p49"/>
          <p:cNvSpPr txBox="1"/>
          <p:nvPr>
            <p:ph idx="1" type="body"/>
          </p:nvPr>
        </p:nvSpPr>
        <p:spPr>
          <a:xfrm>
            <a:off x="4625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AMI </a:t>
            </a:r>
            <a:r>
              <a:rPr lang="ko"/>
              <a:t>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practice_ami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AMI</a:t>
            </a:r>
            <a:r>
              <a:rPr lang="ko"/>
              <a:t>로 인스턴스 생성 (이름 : </a:t>
            </a:r>
            <a:r>
              <a:rPr lang="ko"/>
              <a:t>practice2</a:t>
            </a:r>
            <a:r>
              <a:rPr lang="ko"/>
              <a:t>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ALB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practice_lb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타겟 그룹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practice_tg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2대 등록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alb 연결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